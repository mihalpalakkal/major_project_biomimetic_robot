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10728655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DIVISION OF COMPUTER SCIENCE AND ENGINEERING | SCHOOL OF ENGINEERING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COCHIN UNIVERSITY OF SCIENCE AND TECHNOLOGY (CUSAT) • OCTOBER 2026</a:t>
            </a:r>
          </a:p>
        </p:txBody>
      </p:sp>
      <p:pic>
        <p:nvPicPr>
          <p:cNvPr id="4" name="Picture 3" descr="cusa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21207"/>
            <a:ext cx="516025" cy="6035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353312"/>
            <a:ext cx="1072865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256032"/>
          <a:lstStyle/>
          <a:p>
            <a:pPr algn="ctr">
              <a:defRPr sz="1000" b="1">
                <a:solidFill>
                  <a:srgbClr val="60A5FA"/>
                </a:solidFill>
                <a:latin typeface="Calibri"/>
              </a:defRPr>
            </a:pPr>
            <a:r>
              <a:t>MAJOR PROJECT DESIGN &amp; ARCHITECTURE PRESENTATION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Robo-Root: Plant-Root-Inspired Soft Growing Robot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Pneumatic Tip Eversion, Base-Mounted Four-Tendon Steering &amp; Vision-Assisted Autonomous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51460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28600"/>
          <a:lstStyle/>
          <a:p>
            <a:pPr algn="ctr">
              <a:defRPr sz="850" b="1">
                <a:solidFill>
                  <a:srgbClr val="60A5FA"/>
                </a:solidFill>
                <a:latin typeface="Calibri"/>
              </a:defRPr>
            </a:pPr>
            <a:r>
              <a:t>PROJECT MEMBER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Mihal Palakkal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Reg No: 20223071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3520440"/>
            <a:ext cx="251460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28600"/>
          <a:lstStyle/>
          <a:p>
            <a:pPr algn="ctr">
              <a:defRPr sz="850" b="1">
                <a:solidFill>
                  <a:srgbClr val="60A5FA"/>
                </a:solidFill>
                <a:latin typeface="Calibri"/>
              </a:defRPr>
            </a:pPr>
            <a:r>
              <a:t>PROJECT MEMBER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Rose Maria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Reg No: 20223085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520440"/>
            <a:ext cx="251460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28600"/>
          <a:lstStyle/>
          <a:p>
            <a:pPr algn="ctr">
              <a:defRPr sz="850" b="1">
                <a:solidFill>
                  <a:srgbClr val="60A5FA"/>
                </a:solidFill>
                <a:latin typeface="Calibri"/>
              </a:defRPr>
            </a:pPr>
            <a:r>
              <a:t>PROJECT MEMBER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Ruvais P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Reg No: 20223087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3520440"/>
            <a:ext cx="251460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 lIns="228600"/>
          <a:lstStyle/>
          <a:p>
            <a:pPr algn="ctr">
              <a:defRPr sz="850" b="1">
                <a:solidFill>
                  <a:srgbClr val="60A5FA"/>
                </a:solidFill>
                <a:latin typeface="Calibri"/>
              </a:defRPr>
            </a:pPr>
            <a:r>
              <a:t>PROJECT MEMBER</a:t>
            </a:r>
          </a:p>
          <a:p>
            <a:pPr>
              <a:defRPr sz="1200" b="1">
                <a:solidFill>
                  <a:srgbClr val="F8FAFC"/>
                </a:solidFill>
                <a:latin typeface="Arial"/>
              </a:defRPr>
            </a:pPr>
            <a:r>
              <a:t>Mohamed Jaseeb P J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Reg No: 20223120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64608"/>
            <a:ext cx="10728655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56048"/>
            <a:ext cx="10058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Calibri"/>
              </a:defRPr>
            </a:pPr>
            <a:r>
              <a:t>ACADEMIC ADVISORY &amp; PROJECT SUPERVISION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257800"/>
            <a:ext cx="3291840" cy="8686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Ms. Amrutha S Nair</a:t>
            </a:r>
          </a:p>
          <a:p>
            <a:pPr>
              <a:defRPr sz="950">
                <a:solidFill>
                  <a:srgbClr val="60A5FA"/>
                </a:solidFill>
                <a:latin typeface="Calibri"/>
              </a:defRPr>
            </a:pPr>
            <a:r>
              <a:t>Project Guide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Assistant Professor, Dept. of CSE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257800"/>
            <a:ext cx="3291840" cy="8686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Dr. Sheena S</a:t>
            </a:r>
          </a:p>
          <a:p>
            <a:pPr>
              <a:defRPr sz="950">
                <a:solidFill>
                  <a:srgbClr val="60A5FA"/>
                </a:solidFill>
                <a:latin typeface="Calibri"/>
              </a:defRPr>
            </a:pPr>
            <a:r>
              <a:t>Project Coordinator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Associate Professor, Dept. of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257800"/>
            <a:ext cx="3291840" cy="8686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Arial"/>
              </a:defRPr>
            </a:pPr>
            <a:r>
              <a:t>Mr. Damodaran V</a:t>
            </a:r>
          </a:p>
          <a:p>
            <a:pPr>
              <a:defRPr sz="950">
                <a:solidFill>
                  <a:srgbClr val="60A5FA"/>
                </a:solidFill>
                <a:latin typeface="Calibri"/>
              </a:defRPr>
            </a:pPr>
            <a:r>
              <a:t>Head of Division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Division of Computer Science &amp; Engg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BACKGROUND &amp; MOTIVATION | CHAPTER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Bio-Inspired Soft Robotics: Why Tip-Growing Systems?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Overcoming the severe physical constraints of rigid locomotion in complex and confined subterranean environments.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2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LIMITATIONS OF CONVENTIONAL RIGID ROBOTS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Whole-Body Motion &amp; Friction: </a:t>
            </a:r>
            <a:r>
              <a:rPr sz="950">
                <a:solidFill>
                  <a:srgbClr val="1E293B"/>
                </a:solidFill>
              </a:rPr>
              <a:t>Wheeled, tracked, or legged robots must drag or propel their entire body mass forward through the terrain, creating immense frictional drag in narrow passages.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Wedging &amp; Geometric Trapping: </a:t>
            </a:r>
            <a:r>
              <a:rPr sz="950">
                <a:solidFill>
                  <a:srgbClr val="1E293B"/>
                </a:solidFill>
              </a:rPr>
              <a:t>Rigid structures cannot deform dynamically through tortuous or collapsing cavities, leading to entrapment in disaster rubble or tight pipes.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Subterranean Soil Resistance: </a:t>
            </a:r>
            <a:r>
              <a:rPr sz="950">
                <a:solidFill>
                  <a:srgbClr val="1E293B"/>
                </a:solidFill>
              </a:rPr>
              <a:t>Penetrating soil or sand with rigid shafts incurs exponential penetration resistance that scales drastically with penetration depth.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0F172A"/>
                </a:solidFill>
              </a:rPr>
              <a:t>• High In-Tip Actuator Mass: </a:t>
            </a:r>
            <a:r>
              <a:rPr sz="950">
                <a:solidFill>
                  <a:srgbClr val="1E293B"/>
                </a:solidFill>
              </a:rPr>
              <a:t>Locating heavy drive motors or articulating joints near the front compromises balance and severely limits miniaturization.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THE ROBO-ROOT ADVANTAGE: APICAL TIP EVERSION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</a:rPr>
              <a:t>✔ Apical Extension (Zero Wall-Sliding Friction): </a:t>
            </a:r>
            <a:r>
              <a:rPr sz="950">
                <a:solidFill>
                  <a:srgbClr val="1E293B"/>
                </a:solidFill>
              </a:rPr>
              <a:t>Inspired by biological plant roots, material extends strictly at the tip through pneumatic eversion. The deployed body remains stationary relative to surrounding walls.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</a:rPr>
              <a:t>✔ Passage Through Unstructured Voids: </a:t>
            </a:r>
            <a:r>
              <a:rPr sz="950">
                <a:solidFill>
                  <a:srgbClr val="1E293B"/>
                </a:solidFill>
              </a:rPr>
              <a:t>Seamlessly adapts to tortuous pathways, squeezing through apertures narrower than the unpressurized tube diameter.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</a:rPr>
              <a:t>✔ Internal Working Lumen Conduit: </a:t>
            </a:r>
            <a:r>
              <a:rPr sz="950">
                <a:solidFill>
                  <a:srgbClr val="1E293B"/>
                </a:solidFill>
              </a:rPr>
              <a:t>The hollow central lumen provides a protected interior pathway for electrical wiring, sensor payloads, and air supply without environmental exposure.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0B981"/>
                </a:solidFill>
              </a:rPr>
              <a:t>✔ High Expansion-to-Mass Ratio: </a:t>
            </a:r>
            <a:r>
              <a:rPr sz="950">
                <a:solidFill>
                  <a:srgbClr val="1E293B"/>
                </a:solidFill>
              </a:rPr>
              <a:t>Lightweight polymer membranes can achieve dramatic extensions (several meters) while base station bears the actuator weight.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4892040"/>
            <a:ext cx="475488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b="1" sz="950">
                <a:solidFill>
                  <a:srgbClr val="2563EB"/>
                </a:solidFill>
              </a:defRPr>
            </a:pPr>
            <a:r>
              <a:t>TARGET APPLICATIONS: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Urban Search &amp; Rescue in collapsed structures, industrial pipeline and duct inspection, underground sensor deployment, and non-destructive soil probing.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PROBLEM STATEMENT | CHAPTER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Core Engineering &amp; Scientific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Balancing pneumatic growth dynamics, tendon-based mechanical steering, and real-time vision perception.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3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182880" rIns="182880"/>
          <a:lstStyle/>
          <a:p>
            <a:pPr algn="ctr">
              <a:defRPr sz="1050" b="1">
                <a:solidFill>
                  <a:srgbClr val="2563EB"/>
                </a:solidFill>
                <a:latin typeface="Arial"/>
              </a:defRPr>
            </a:pPr>
            <a:r>
              <a:t>1. DIRECTIONAL STEERING CONTROL</a:t>
            </a:r>
          </a:p>
          <a:p>
            <a:pPr>
              <a:spcBef>
                <a:spcPts val="1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Uncontrolled Tip Eversion: Pressurized pneumatic tubes naturally extend along the path of least resistance or in a straight line.</a:t>
            </a:r>
            <a:br/>
            <a:br/>
            <a:r>
              <a:t>• Planar &amp; Spatial Bending: Imparting deliberate 2D/3D angular deflection requires active, coordinated steering authority without inducing structural buckling or tube kinking.</a:t>
            </a:r>
            <a:br/>
            <a:br/>
            <a:r>
              <a:t>• Critical Need: A decoupled 4-tendon antagonistic steering mechanism operating at the tip.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5576" y="169164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182880" rIns="182880"/>
          <a:lstStyle/>
          <a:p>
            <a:pPr algn="ctr">
              <a:defRPr sz="1050" b="1">
                <a:solidFill>
                  <a:srgbClr val="D97706"/>
                </a:solidFill>
                <a:latin typeface="Arial"/>
              </a:defRPr>
            </a:pPr>
            <a:r>
              <a:t>2. TENDON ROUTING &amp; CABLE PAYOUT</a:t>
            </a:r>
          </a:p>
          <a:p>
            <a:pPr>
              <a:spcBef>
                <a:spcPts val="1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Growth vs. Cable Tension: As the robot extends from centimeters to meters, steering cables must deploy continuously.</a:t>
            </a:r>
            <a:br/>
            <a:br/>
            <a:r>
              <a:t>• Slack &amp; Friction Management: Loose tendons cause steering deadband and backlash, while overtight tendons prevent eversion growth.</a:t>
            </a:r>
            <a:br/>
            <a:br/>
            <a:r>
              <a:t>• Critical Need: Base-mounted motorized cable spools that dynamically release tendon slack synchronous with growth.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169164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69164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182880" rIns="182880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3. TIP PERCEPTION IN CONFINED SPACES</a:t>
            </a:r>
          </a:p>
          <a:p>
            <a:pPr>
              <a:spcBef>
                <a:spcPts val="1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Hostile Visual Environments: Confined boreholes and rubble exhibit complete darkness, dust, lens occlusions, and severe glare.</a:t>
            </a:r>
            <a:br/>
            <a:br/>
            <a:r>
              <a:t>• Computational Bottlenecks: Real-time image processing cannot rely on heavy GPU hardware mounted on the fragile soft tip.</a:t>
            </a:r>
            <a:br/>
            <a:br/>
            <a:r>
              <a:t>• Critical Need: Micro-camera feed streaming to a host ROS 2 machine running optimized YOLO inference.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691640"/>
            <a:ext cx="251460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33688" y="1691640"/>
            <a:ext cx="2514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182880" rIns="182880"/>
          <a:lstStyle/>
          <a:p>
            <a:pPr algn="ctr">
              <a:defRPr sz="1050" b="1">
                <a:solidFill>
                  <a:srgbClr val="10B981"/>
                </a:solidFill>
                <a:latin typeface="Arial"/>
              </a:defRPr>
            </a:pPr>
            <a:r>
              <a:t>4. MULTIMODAL SYSTEM SYNCHRONIZATION</a:t>
            </a:r>
          </a:p>
          <a:p>
            <a:pPr>
              <a:spcBef>
                <a:spcPts val="1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Actuator-Sensor Decoupling: High pneumatic pressure, servo pulse modulation, and image capture must be synchronized.</a:t>
            </a:r>
            <a:br/>
            <a:br/>
            <a:r>
              <a:t>• Closed-Loop Control Latency: Steering corrections must occur at speeds compatible with pneumatic forward advancement.</a:t>
            </a:r>
            <a:br/>
            <a:br/>
            <a:r>
              <a:t>• Critical Need: A modular ROS 2 architecture establishing deterministic communication across all subsystems.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3688" y="169164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PROJECT OBJECTIVES &amp; SCOPE | CHAPTERS 01 &amp;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Systematic Objectives &amp; Technical Scope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Defining the engineering milestones and practical boundaries of the laboratory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4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943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74320" tIns="274320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PRIMARY TECHNICAL OBJECTIVES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1. Pneumatic Tip Eversion: </a:t>
            </a:r>
            <a:r>
              <a:rPr sz="950">
                <a:solidFill>
                  <a:srgbClr val="1E293B"/>
                </a:solidFill>
              </a:rPr>
              <a:t>Design an airtight, flexible tubular mechanism capable of continuous forward growth driven by regulated pneumatic pressure.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2. Four-Tendon Steering: </a:t>
            </a:r>
            <a:r>
              <a:rPr sz="950">
                <a:solidFill>
                  <a:srgbClr val="1E293B"/>
                </a:solidFill>
              </a:rPr>
              <a:t>Construct a 4-tendon orthogonal arrangement around the flexible tube for active planar tip steering in the X-Y horizontal plane.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3. Base-Station Actuation: </a:t>
            </a:r>
            <a:r>
              <a:rPr sz="950">
                <a:solidFill>
                  <a:srgbClr val="1E293B"/>
                </a:solidFill>
              </a:rPr>
              <a:t>Mount four high-torque servo motors at the stationary base to minimize tip payload and enable active tendon spooling.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4. Vision Integration: </a:t>
            </a:r>
            <a:r>
              <a:rPr sz="950">
                <a:solidFill>
                  <a:srgbClr val="1E293B"/>
                </a:solidFill>
              </a:rPr>
              <a:t>Equip the advancing tip with a micro-camera for real-time forward environmental sensing and obstacle detection.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5. YOLO Perception Pipeline: </a:t>
            </a:r>
            <a:r>
              <a:rPr sz="950">
                <a:solidFill>
                  <a:srgbClr val="1E293B"/>
                </a:solidFill>
              </a:rPr>
              <a:t>Integrate pretrained YOLO models via OpenCV to detect objects and obstacles without needing massive prior training sets.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6. ROS 2 Control Architecture: </a:t>
            </a:r>
            <a:r>
              <a:rPr sz="950">
                <a:solidFill>
                  <a:srgbClr val="1E293B"/>
                </a:solidFill>
              </a:rPr>
              <a:t>Establish a modular ROS 2 framework linking image acquisition, path planning, kinematics, and ESP32 low-level firmware.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91640"/>
            <a:ext cx="460217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274320" tIns="27432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SCOPE BOUNDARIES &amp; ASSUMPTIONS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2563EB"/>
                </a:solidFill>
              </a:rPr>
              <a:t>• Base-Mounted Servos: </a:t>
            </a:r>
            <a:r>
              <a:rPr sz="950">
                <a:solidFill>
                  <a:srgbClr val="1E293B"/>
                </a:solidFill>
              </a:rPr>
              <a:t>Servos remain stationary at the base rather than moving with the tip, drastically reducing moving inertia but requiring robust cable payout management.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2563EB"/>
                </a:solidFill>
              </a:rPr>
              <a:t>• Pretrained Model Utilization: </a:t>
            </a:r>
            <a:r>
              <a:rPr sz="950">
                <a:solidFill>
                  <a:srgbClr val="1E293B"/>
                </a:solidFill>
              </a:rPr>
              <a:t>Leverages established YOLO weights for standard object classes, focusing on the system integration pipeline rather than de novo neural network training.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2563EB"/>
                </a:solidFill>
              </a:rPr>
              <a:t>• Perception Outputs: </a:t>
            </a:r>
            <a:r>
              <a:rPr sz="950">
                <a:solidFill>
                  <a:srgbClr val="1E293B"/>
                </a:solidFill>
              </a:rPr>
              <a:t>Visual detection yields 2D bounding boxes and class IDs; metric depth estimation is handled modularly through geometric or additional depth sensors.</a:t>
            </a:r>
          </a:p>
          <a:p>
            <a:pPr>
              <a:spcBef>
                <a:spcPts val="1000"/>
              </a:spcBef>
            </a:pPr>
            <a:r>
              <a:rPr b="1" sz="1000">
                <a:solidFill>
                  <a:srgbClr val="2563EB"/>
                </a:solidFill>
              </a:rPr>
              <a:t>• Empirical Validation Focus: </a:t>
            </a:r>
            <a:r>
              <a:rPr sz="950">
                <a:solidFill>
                  <a:srgbClr val="1E293B"/>
                </a:solidFill>
              </a:rPr>
              <a:t>Prototype designed for laboratory bench testing to evaluate growth rate, steering deflection angle, and deployment-retrieval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SYSTEM WORKFLOW &amp; SOFTWARE ARCHITECTURE | CHAPTER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End-to-End System Workflow &amp; ROS 2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Modular software nodes communicating across perception, path planning, and embedded actuation.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5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28600" tIns="228600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INTEGRATED SYSTEM WORKFLOW LOOP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1. Initialization: </a:t>
            </a:r>
            <a:r>
              <a:rPr sz="900">
                <a:solidFill>
                  <a:srgbClr val="1E293B"/>
                </a:solidFill>
              </a:rPr>
              <a:t>ROS 2 nodes, camera stream, ESP32 UART, &amp; pneumatic manifold initialize.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2. Pneumatic Growth: </a:t>
            </a:r>
            <a:r>
              <a:rPr sz="900">
                <a:solidFill>
                  <a:srgbClr val="1E293B"/>
                </a:solidFill>
              </a:rPr>
              <a:t>Regulated air enters chamber; tubular membrane begins tip eversion.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3. Frame Acquisition: </a:t>
            </a:r>
            <a:r>
              <a:rPr sz="900">
                <a:solidFill>
                  <a:srgbClr val="1E293B"/>
                </a:solidFill>
              </a:rPr>
              <a:t>Tip camera captures visual frames ahead of advancing robot.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4. YOLO Inference: </a:t>
            </a:r>
            <a:r>
              <a:rPr sz="900">
                <a:solidFill>
                  <a:srgbClr val="1E293B"/>
                </a:solidFill>
              </a:rPr>
              <a:t>OpenCV resizes/letterboxes frames; YOLO outputs bounding boxes.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5. Path Planning: </a:t>
            </a:r>
            <a:r>
              <a:rPr sz="900">
                <a:solidFill>
                  <a:srgbClr val="1E293B"/>
                </a:solidFill>
              </a:rPr>
              <a:t>ROS 2 node determines obstacle-free trajectory setpoint.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6. Steering Kinematics: </a:t>
            </a:r>
            <a:r>
              <a:rPr sz="900">
                <a:solidFill>
                  <a:srgbClr val="1E293B"/>
                </a:solidFill>
              </a:rPr>
              <a:t>Controller converts target angle into 4 differential tendon lengths.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7. Servo Actuation: </a:t>
            </a:r>
            <a:r>
              <a:rPr sz="900">
                <a:solidFill>
                  <a:srgbClr val="1E293B"/>
                </a:solidFill>
              </a:rPr>
              <a:t>ESP32 generates PWM pulses for 4 base-mounted servo motors.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8. Cable Payout: </a:t>
            </a:r>
            <a:r>
              <a:rPr sz="900">
                <a:solidFill>
                  <a:srgbClr val="1E293B"/>
                </a:solidFill>
              </a:rPr>
              <a:t>Motorized drums release tendon slack synchronous with tube growth.</a:t>
            </a:r>
          </a:p>
          <a:p>
            <a:pPr>
              <a:spcBef>
                <a:spcPts val="450"/>
              </a:spcBef>
            </a:pPr>
            <a:r>
              <a:rPr b="1" sz="950">
                <a:solidFill>
                  <a:srgbClr val="0F172A"/>
                </a:solidFill>
              </a:rPr>
              <a:t>9. Pressure &amp; Safety: </a:t>
            </a:r>
            <a:r>
              <a:rPr sz="900">
                <a:solidFill>
                  <a:srgbClr val="1E293B"/>
                </a:solidFill>
              </a:rPr>
              <a:t>Pressure transducer ensures line pressure stays within safe thresholds.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91640"/>
            <a:ext cx="560801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2_ros2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31517"/>
            <a:ext cx="5425135" cy="3616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5751576"/>
            <a:ext cx="5608015" cy="29260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Figure 5.1: ROS 2 Software Architecture &amp; Hardware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MODULAR STRUCTURE: MECHANICAL | CHAPTER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Mechanical Design &amp; Tip-Eversion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Pneumatic inversion dynamics, base-station structural layout, and internal lumen routing.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6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754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150" b="1">
                <a:solidFill>
                  <a:srgbClr val="2563EB"/>
                </a:solidFill>
                <a:latin typeface="Arial"/>
              </a:defRPr>
            </a:pPr>
            <a:r>
              <a:t>MECHANICAL DESIGN PRINCIPLES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Tip Eversion Dynamics: </a:t>
            </a:r>
            <a:r>
              <a:rPr sz="900">
                <a:solidFill>
                  <a:srgbClr val="1E293B"/>
                </a:solidFill>
              </a:rPr>
              <a:t>The robot body consists of a flexible, airtight membrane folded inwards upon itself. Pneumatic pressure applied internally forces new material to unfold exclusively at the tip, pushing the robot forward without sliding friction.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Base Station Assembly: </a:t>
            </a:r>
            <a:r>
              <a:rPr sz="900">
                <a:solidFill>
                  <a:srgbClr val="1E293B"/>
                </a:solidFill>
              </a:rPr>
              <a:t>Houses the primary structural weight: the air supply connection, pressure regulator, four servo actuators, cable payout drums, and control electronics. Isolates delicate parts from hazardous environments.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Growing Tip Head Assembly: </a:t>
            </a:r>
            <a:r>
              <a:rPr sz="900">
                <a:solidFill>
                  <a:srgbClr val="1E293B"/>
                </a:solidFill>
              </a:rPr>
              <a:t>A lightweight, rigid circular ring mounted at the inversion point. Acts as the anchor for the 4 steering tendons, mounts the micro-camera module, and ensures circular aperture maintenance.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Internal Working Lumen: </a:t>
            </a:r>
            <a:r>
              <a:rPr sz="900">
                <a:solidFill>
                  <a:srgbClr val="1E293B"/>
                </a:solidFill>
              </a:rPr>
              <a:t>The hollow central core forms a protected conduit that carries tendon cables, camera wiring, and pneumatic hoses without exposing them to exterior dirt, sand, or debris.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3_robot_overall_mechanical_structure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27403"/>
            <a:ext cx="5608015" cy="3024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5751576"/>
            <a:ext cx="5790895" cy="29260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Figure 6.1: Overall Mechanical Structure of the Pneumatic Tip-Growing Robot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MODULAR STRUCTURE: STEERING &amp; ACTUATION | CHAPTER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Four-Tendon Steering &amp; Base-Mounted Servo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Decoupling actuation weight from the tip through base-mounted antagonistic cable spools.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7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754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150" b="1">
                <a:solidFill>
                  <a:srgbClr val="2563EB"/>
                </a:solidFill>
                <a:latin typeface="Arial"/>
              </a:defRPr>
            </a:pPr>
            <a:r>
              <a:t>DIRECTIONAL STEERING &amp; ACTUATION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Four-Tendon Orthogonal Arrangement: </a:t>
            </a:r>
            <a:r>
              <a:rPr sz="900">
                <a:solidFill>
                  <a:srgbClr val="1E293B"/>
                </a:solidFill>
              </a:rPr>
              <a:t>Four axial cables are routed circumferentially at 90° intervals (North, East, South, West). Antagonistic tensioning allows omnidirectional 2D bending in the X-Y plane.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Differential Bending Moments: </a:t>
            </a:r>
            <a:r>
              <a:rPr sz="900">
                <a:solidFill>
                  <a:srgbClr val="1E293B"/>
                </a:solidFill>
              </a:rPr>
              <a:t>Pulling tendon X+ while releasing tendon X- creates a bending curvature in the +X direction without altering overall growth speed or internal pressure.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Base-Mounted Actuator Spools: </a:t>
            </a:r>
            <a:r>
              <a:rPr sz="900">
                <a:solidFill>
                  <a:srgbClr val="1E293B"/>
                </a:solidFill>
              </a:rPr>
              <a:t>Mounting the four high-torque servo motors at the stationary base keeps tip inertia at zero, preventing front-heavy tipping and allowing high steering agility.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Dynamic Cable Payout Mechanics: </a:t>
            </a:r>
            <a:r>
              <a:rPr sz="900">
                <a:solidFill>
                  <a:srgbClr val="1E293B"/>
                </a:solidFill>
              </a:rPr>
              <a:t>Each servo drives a precision cable drum with guide channels. As the robot grows, tendons pay out in lockstep with the advancing membrane, maintaining consistent tension and avoiding tangling.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91640"/>
            <a:ext cx="5790895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4_four_tendon_directional_st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423" y="1746504"/>
            <a:ext cx="2578608" cy="17190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3483864"/>
            <a:ext cx="5790895" cy="29260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Figure 6.2: Directional Steering via Four-Tendon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50208"/>
            <a:ext cx="5790895" cy="2130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5_servo_cable_drum_assemb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65" y="4005072"/>
            <a:ext cx="2592324" cy="1728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0" y="5751576"/>
            <a:ext cx="5790895" cy="29260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Figure 6.3: Base-Mounted Servo Motors &amp; Cable-Drum Assembly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PERCEPTION SYSTEM: YOLO PIPELINE | CHAPTER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Tip-Mounted Computer Vision &amp; YOLO Inference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From raw camera capture to real-time object classification, bounding boxes, and path planner inputs.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8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 lIns="182880" rIns="18288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1. CAMERA ACQUISITION &amp; CONVERSION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Micro-Camera Tip Capture: High-framerate video captures terrain ahead of growing apex.</a:t>
            </a:r>
            <a:br/>
            <a:r>
              <a:t>• ROS 2 Transport &amp; CvBridge: Converts raw sensor buffers into standard OpenCV BGR arrays.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429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 lIns="182880" rIns="182880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2. PREPROCESSING &amp; LETTERBOXING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Aspect-Preserving Letterboxing: Resizes frames to 640x640 with symmetric padding.</a:t>
            </a:r>
            <a:br/>
            <a:r>
              <a:t>• Pixel Normalization: Scales RGB values [0, 255] -&gt; [0.0, 1.0] for model tensor batching.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645920"/>
            <a:ext cx="34290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2" y="16459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 lIns="182880" rIns="182880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3. YOLO INFERENCE &amp; INTEGRATION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  <a:latin typeface="Calibri"/>
              </a:defRPr>
            </a:pPr>
            <a:r>
              <a:t>• Pretrained Neural Inference: Multi-scale convolutional feature extraction &amp; class prediction.</a:t>
            </a:r>
            <a:br/>
            <a:r>
              <a:t>• NMS &amp; Trajectory Node: Non-Maximum Suppression sends obstacle coordinates to ROS 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645920"/>
            <a:ext cx="3429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0728655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1_image_process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1" y="3346704"/>
            <a:ext cx="7159752" cy="2386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5751576"/>
            <a:ext cx="10728655" cy="29260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Figure 4.1: End-to-End Image Processing &amp; Pretrained YOLO Object Detection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EMBEDDED HARDWARE: ELECTRONICS | CHAPTERS 06 &amp;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Electronics, Power Distribution &amp; Interfacing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ESP32 embedded microcontroller bridging high-level ROS 2 commands with physical actuators and sensors.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9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4754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150" b="1">
                <a:solidFill>
                  <a:srgbClr val="2563EB"/>
                </a:solidFill>
                <a:latin typeface="Arial"/>
              </a:defRPr>
            </a:pPr>
            <a:r>
              <a:t>HARDWARE &amp; ELECTRICAL INTEGRATION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ESP32 Dual-Core Microcontroller: </a:t>
            </a:r>
            <a:r>
              <a:rPr sz="900">
                <a:solidFill>
                  <a:srgbClr val="1E293B"/>
                </a:solidFill>
              </a:rPr>
              <a:t>Manages low-latency real-time actuator control. Receives high-level trajectory commands from host PC via USB/UART and generates high-resolution PWM signals.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Dedicated High-Current Servo Bus: </a:t>
            </a:r>
            <a:r>
              <a:rPr sz="900">
                <a:solidFill>
                  <a:srgbClr val="1E293B"/>
                </a:solidFill>
              </a:rPr>
              <a:t>Steering requires significant torque; four servos are powered by an isolated 5V/6V high-amperage power supply with common ground isolation to prevent logic brownouts.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Pneumatic Solenoid Valve Driver: </a:t>
            </a:r>
            <a:r>
              <a:rPr sz="900">
                <a:solidFill>
                  <a:srgbClr val="1E293B"/>
                </a:solidFill>
              </a:rPr>
              <a:t>Transistor/MOSFET switching circuit controls the air flow solenoid valve, modulating pneumatic growth rate and emergency shutoff.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Sensory &amp; Safety Interfacing: </a:t>
            </a:r>
            <a:r>
              <a:rPr sz="900">
                <a:solidFill>
                  <a:srgbClr val="1E293B"/>
                </a:solidFill>
              </a:rPr>
              <a:t>Integrated pressure sensor continuously transmits pneumatic line pressure to prevent tube over-inflation; supports optional tip IMU sensor for orientation.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91640"/>
            <a:ext cx="57908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6_electronics_wir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70557"/>
            <a:ext cx="5608015" cy="37386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5751576"/>
            <a:ext cx="5790895" cy="292608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>
              <a:defRPr sz="950" b="1">
                <a:solidFill>
                  <a:srgbClr val="64748B"/>
                </a:solidFill>
                <a:latin typeface="Calibri"/>
              </a:defRPr>
            </a:pPr>
            <a:r>
              <a:t>Figure 6.4: Electronics and Wiring Diagram of the Growing Robot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754880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0"/>
          <a:lstStyle/>
          <a:p>
            <a:pPr algn="ctr">
              <a:defRPr sz="850" b="1">
                <a:solidFill>
                  <a:srgbClr val="4F46E5"/>
                </a:solidFill>
                <a:latin typeface="Calibri"/>
              </a:defRPr>
            </a:pPr>
            <a:r>
              <a:t>CONCLUSION &amp; FUTURE WORK | CHAPTER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Summary, Evaluation Benchmarks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Synthesizing key design achievements and outlining empirical test plans for the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27648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64224"/>
            <a:ext cx="64008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Robo-Root: Plant-Root-Inspired Pneumatic Tip-Growing Robot | CUSAT Major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64224"/>
            <a:ext cx="1828800" cy="27432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Slide 10 of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PROJECT DESIGN ACHIEVEMENTS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Integrated Soft-Growing Architecture: </a:t>
            </a:r>
            <a:r>
              <a:rPr sz="900">
                <a:solidFill>
                  <a:srgbClr val="1E293B"/>
                </a:solidFill>
              </a:rPr>
              <a:t>Successfully established a complete design paradigm combining pneumatic tip eversion with 4-tendon steering.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Actuator Weight Decoupling: </a:t>
            </a:r>
            <a:r>
              <a:rPr sz="900">
                <a:solidFill>
                  <a:srgbClr val="1E293B"/>
                </a:solidFill>
              </a:rPr>
              <a:t>Positioned high-torque servos at the base station, eliminating moving tip mass and maximizing navigation agility.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Vision-Integrated Control: </a:t>
            </a:r>
            <a:r>
              <a:rPr sz="900">
                <a:solidFill>
                  <a:srgbClr val="1E293B"/>
                </a:solidFill>
              </a:rPr>
              <a:t>Formulated an end-to-end perception pipeline leveraging pretrained YOLO for real-time obstacle detection.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Modular ROS 2 Architecture: </a:t>
            </a:r>
            <a:r>
              <a:rPr sz="900">
                <a:solidFill>
                  <a:srgbClr val="1E293B"/>
                </a:solidFill>
              </a:rPr>
              <a:t>Created a decoupled framework where mechanical, pneumatic, electronic, and software components can be tested independently.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429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16916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PLANNED EVALUATION BENCHMARKS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Pneumatic Growth Rate: </a:t>
            </a:r>
            <a:r>
              <a:rPr sz="900">
                <a:solidFill>
                  <a:srgbClr val="1E293B"/>
                </a:solidFill>
              </a:rPr>
              <a:t>Measure deployment velocity (cm/s) as a function of air pressure (kPa) and tube material friction.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Steering Precision &amp; Deflection: </a:t>
            </a:r>
            <a:r>
              <a:rPr sz="900">
                <a:solidFill>
                  <a:srgbClr val="1E293B"/>
                </a:solidFill>
              </a:rPr>
              <a:t>Quantify maximum angular deflection range (0°–90°), hysteresis, and repeatable steering accuracy.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Perception Latency: </a:t>
            </a:r>
            <a:r>
              <a:rPr sz="900">
                <a:solidFill>
                  <a:srgbClr val="1E293B"/>
                </a:solidFill>
              </a:rPr>
              <a:t>Benchmark YOLO frame rate (FPS), detection mAP, and classification confidence under dim lighting.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Deployment &amp; Retrieval Cycles: </a:t>
            </a:r>
            <a:r>
              <a:rPr sz="900">
                <a:solidFill>
                  <a:srgbClr val="1E293B"/>
                </a:solidFill>
              </a:rPr>
              <a:t>Test complete forward growth and tendon-assisted retraction without entanglement or membrane rupture.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691640"/>
            <a:ext cx="3429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2" y="169164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01168" rIns="201168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Closed-Loop Visual Servoing: </a:t>
            </a:r>
            <a:r>
              <a:rPr sz="900">
                <a:solidFill>
                  <a:srgbClr val="1E293B"/>
                </a:solidFill>
              </a:rPr>
              <a:t>Incorporate stereoscopic / depth camera sensing for exact metric 3D obstacle distance measurement.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Tension Feedback Control: </a:t>
            </a:r>
            <a:r>
              <a:rPr sz="900">
                <a:solidFill>
                  <a:srgbClr val="1E293B"/>
                </a:solidFill>
              </a:rPr>
              <a:t>Integrate inline miniature load cells on cable drums for closed-loop tension regulation.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Granular Media Burrowing: </a:t>
            </a:r>
            <a:r>
              <a:rPr sz="900">
                <a:solidFill>
                  <a:srgbClr val="1E293B"/>
                </a:solidFill>
              </a:rPr>
              <a:t>Evaluate penetration capabilities in noncohesive dry granular media (sand, loose gravel).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Autonomous Path Replanning: </a:t>
            </a:r>
            <a:r>
              <a:rPr sz="900">
                <a:solidFill>
                  <a:srgbClr val="1E293B"/>
                </a:solidFill>
              </a:rPr>
              <a:t>Implement dynamic obstacle avoidance and SLAM in GPS-denied confined cavities.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691640"/>
            <a:ext cx="3429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